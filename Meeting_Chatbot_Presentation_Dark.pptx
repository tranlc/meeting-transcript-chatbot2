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Meeting Transcript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696C8"/>
                </a:solidFill>
              </a:defRPr>
            </a:pPr>
            <a:r>
              <a:t>Hệ thống phân tích cuộc họp thông minh với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</a:defRPr>
            </a:pPr>
            <a:r>
              <a:t>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498079" cy="1280160"/>
          </a:xfrm>
          <a:prstGeom prst="rect">
            <a:avLst/>
          </a:prstGeom>
          <a:noFill/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667EEA"/>
                </a:solidFill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Giới Thiệu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889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667EEA"/>
                </a:solidFill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788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Kiến Trúc Hệ Thống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918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667EEA"/>
                </a:solidFill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2918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Tính Năng Chính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7947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667EEA"/>
                </a:solidFill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7947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4C8FF"/>
                </a:solidFill>
              </a:defRPr>
            </a:pPr>
            <a:r>
              <a:t>🎙️ Ghi Âm &amp; Transcription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297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667EEA"/>
                </a:solidFill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2976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4C8FF"/>
                </a:solidFill>
              </a:defRPr>
            </a:pPr>
            <a:r>
              <a:t>📤 Upload &amp; Phân Tích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8006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667EEA"/>
                </a:solidFill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800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4C8FF"/>
                </a:solidFill>
              </a:defRPr>
            </a:pPr>
            <a:r>
              <a:t>💬 Chat với AI (RAG)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3035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667EEA"/>
                </a:solidFill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3035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4C8FF"/>
                </a:solidFill>
              </a:defRPr>
            </a:pPr>
            <a:r>
              <a:t>🔍 Tìm Kiếm Ngữ Nghĩa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064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064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667EEA"/>
                </a:solidFill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806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Demo Trực Tiếp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63093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667EEA"/>
                </a:solidFill>
              </a:defRPr>
            </a:pPr>
            <a: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6309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🎙️ Ghi Âm &amp; Chuyển Văn Bản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FF"/>
                </a:solidFill>
              </a:defRPr>
            </a:pPr>
            <a:r>
              <a:t>🎯 Ghi âm cuộc họp và tự động chuyển thành văn bản với speaker diarization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4114800" cy="731520"/>
          </a:xfrm>
          <a:prstGeom prst="rect">
            <a:avLst/>
          </a:prstGeom>
          <a:solidFill>
            <a:srgbClr val="28283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92%</a:t>
            </a:r>
          </a:p>
          <a:p>
            <a:pPr algn="ctr">
              <a:defRPr sz="1400">
                <a:solidFill>
                  <a:srgbClr val="B4B4C8"/>
                </a:solidFill>
              </a:defRPr>
            </a:pPr>
            <a:r>
              <a:t>Độ chính xác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4114800" cy="731520"/>
          </a:xfrm>
          <a:prstGeom prst="rect">
            <a:avLst/>
          </a:prstGeom>
          <a:solidFill>
            <a:srgbClr val="28283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50+</a:t>
            </a:r>
          </a:p>
          <a:p>
            <a:pPr algn="ctr">
              <a:defRPr sz="1400">
                <a:solidFill>
                  <a:srgbClr val="B4B4C8"/>
                </a:solidFill>
              </a:defRPr>
            </a:pPr>
            <a:r>
              <a:t>Ngôn ngữ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1828800"/>
            <a:ext cx="4114800" cy="731520"/>
          </a:xfrm>
          <a:prstGeom prst="rect">
            <a:avLst/>
          </a:prstGeom>
          <a:solidFill>
            <a:srgbClr val="28283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3x</a:t>
            </a:r>
          </a:p>
          <a:p>
            <a:pPr algn="ctr">
              <a:defRPr sz="1400">
                <a:solidFill>
                  <a:srgbClr val="B4B4C8"/>
                </a:solidFill>
              </a:defRPr>
            </a:pPr>
            <a:r>
              <a:t>Realtime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📋 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29000"/>
            <a:ext cx="6400800" cy="548640"/>
          </a:xfrm>
          <a:prstGeom prst="rect">
            <a:avLst/>
          </a:prstGeom>
          <a:solidFill>
            <a:srgbClr val="1E1E32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1. Khởi động ghi âm</a:t>
            </a:r>
          </a:p>
          <a:p>
            <a:pPr lvl="1">
              <a:defRPr sz="1100">
                <a:solidFill>
                  <a:srgbClr val="A0A0B4"/>
                </a:solidFill>
              </a:defRPr>
            </a:pPr>
            <a:r>
              <a:t>WebRTC API capture audio từ browser/mic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6400800" cy="548640"/>
          </a:xfrm>
          <a:prstGeom prst="rect">
            <a:avLst/>
          </a:prstGeom>
          <a:solidFill>
            <a:srgbClr val="1E1E32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2. Streaming &amp; Buffer</a:t>
            </a:r>
          </a:p>
          <a:p>
            <a:pPr lvl="1">
              <a:defRPr sz="1100">
                <a:solidFill>
                  <a:srgbClr val="A0A0B4"/>
                </a:solidFill>
              </a:defRPr>
            </a:pPr>
            <a:r>
              <a:t>Audio chunks buffer qua WebSocket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17720"/>
            <a:ext cx="6400800" cy="548640"/>
          </a:xfrm>
          <a:prstGeom prst="rect">
            <a:avLst/>
          </a:prstGeom>
          <a:solidFill>
            <a:srgbClr val="1E1E32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3. Transcription</a:t>
            </a:r>
          </a:p>
          <a:p>
            <a:pPr lvl="1">
              <a:defRPr sz="1100">
                <a:solidFill>
                  <a:srgbClr val="A0A0B4"/>
                </a:solidFill>
              </a:defRPr>
            </a:pPr>
            <a:r>
              <a:t>WhisperX Medium → text + timestamp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12080"/>
            <a:ext cx="6400800" cy="548640"/>
          </a:xfrm>
          <a:prstGeom prst="rect">
            <a:avLst/>
          </a:prstGeom>
          <a:solidFill>
            <a:srgbClr val="1E1E32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4. Speaker Diarization</a:t>
            </a:r>
          </a:p>
          <a:p>
            <a:pPr lvl="1">
              <a:defRPr sz="1100">
                <a:solidFill>
                  <a:srgbClr val="A0A0B4"/>
                </a:solidFill>
              </a:defRPr>
            </a:pPr>
            <a:r>
              <a:t>PyAnnote 3.1 phân biệt người nói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806440"/>
            <a:ext cx="6400800" cy="548640"/>
          </a:xfrm>
          <a:prstGeom prst="rect">
            <a:avLst/>
          </a:prstGeom>
          <a:solidFill>
            <a:srgbClr val="1E1E32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5. Lưu &amp; Hiển thị</a:t>
            </a:r>
          </a:p>
          <a:p>
            <a:pPr lvl="1">
              <a:defRPr sz="1100">
                <a:solidFill>
                  <a:srgbClr val="A0A0B4"/>
                </a:solidFill>
              </a:defRPr>
            </a:pPr>
            <a:r>
              <a:t>Save DB, hiển thị real-time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🔧 CÔNG NGHỆ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474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WhisperX</a:t>
            </a:r>
          </a:p>
          <a:p>
            <a:pPr lvl="1">
              <a:defRPr sz="1000">
                <a:solidFill>
                  <a:srgbClr val="A0A0B4"/>
                </a:solidFill>
              </a:defRPr>
            </a:pPr>
            <a:r>
              <a:t>Speech-to-Text 92%, 50+ ngôn ngữ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069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PyAnnote 3.1</a:t>
            </a:r>
          </a:p>
          <a:p>
            <a:pPr lvl="1">
              <a:defRPr sz="1000">
                <a:solidFill>
                  <a:srgbClr val="A0A0B4"/>
                </a:solidFill>
              </a:defRPr>
            </a:pPr>
            <a:r>
              <a:t>Speaker Diarization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WebRTC + WebSocket</a:t>
            </a:r>
          </a:p>
          <a:p>
            <a:pPr lvl="1">
              <a:defRPr sz="1000">
                <a:solidFill>
                  <a:srgbClr val="A0A0B4"/>
                </a:solidFill>
              </a:defRPr>
            </a:pPr>
            <a:r>
              <a:t>Real-time streaming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257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FFmpeg</a:t>
            </a:r>
          </a:p>
          <a:p>
            <a:pPr lvl="1">
              <a:defRPr sz="1000">
                <a:solidFill>
                  <a:srgbClr val="A0A0B4"/>
                </a:solidFill>
              </a:defRPr>
            </a:pPr>
            <a:r>
              <a:t>Audio processing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7132320"/>
            <a:ext cx="13716000" cy="731520"/>
          </a:xfrm>
          <a:prstGeom prst="rect">
            <a:avLst/>
          </a:prstGeom>
          <a:solidFill>
            <a:srgbClr val="28283C"/>
          </a:solidFill>
          <a:ln w="254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722376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DC64"/>
                </a:solidFill>
              </a:defRPr>
            </a:pPr>
            <a:r>
              <a:t>💡 DiarizationPipeline wrapper đảm bảo format tương thích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📤 Upload &amp; Phân Tích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FF"/>
                </a:solidFill>
              </a:defRPr>
            </a:pPr>
            <a:r>
              <a:t>🎯 Upload file và nhận phân tích AI toàn diện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4114800" cy="731520"/>
          </a:xfrm>
          <a:prstGeom prst="rect">
            <a:avLst/>
          </a:prstGeom>
          <a:solidFill>
            <a:srgbClr val="28283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100MB</a:t>
            </a:r>
          </a:p>
          <a:p>
            <a:pPr algn="ctr">
              <a:defRPr sz="1400">
                <a:solidFill>
                  <a:srgbClr val="B4B4C8"/>
                </a:solidFill>
              </a:defRPr>
            </a:pPr>
            <a:r>
              <a:t>Max Size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4114800" cy="731520"/>
          </a:xfrm>
          <a:prstGeom prst="rect">
            <a:avLst/>
          </a:prstGeom>
          <a:solidFill>
            <a:srgbClr val="28283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5</a:t>
            </a:r>
          </a:p>
          <a:p>
            <a:pPr algn="ctr">
              <a:defRPr sz="1400">
                <a:solidFill>
                  <a:srgbClr val="B4B4C8"/>
                </a:solidFill>
              </a:defRPr>
            </a:pPr>
            <a:r>
              <a:t>Formats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1828800"/>
            <a:ext cx="4114800" cy="731520"/>
          </a:xfrm>
          <a:prstGeom prst="rect">
            <a:avLst/>
          </a:prstGeom>
          <a:solidFill>
            <a:srgbClr val="28283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30s</a:t>
            </a:r>
          </a:p>
          <a:p>
            <a:pPr algn="ctr">
              <a:defRPr sz="1400">
                <a:solidFill>
                  <a:srgbClr val="B4B4C8"/>
                </a:solidFill>
              </a:defRPr>
            </a:pPr>
            <a:r>
              <a:t>Avg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📋 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29000"/>
            <a:ext cx="6400800" cy="548640"/>
          </a:xfrm>
          <a:prstGeom prst="rect">
            <a:avLst/>
          </a:prstGeom>
          <a:solidFill>
            <a:srgbClr val="1E1E32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1. Upload File</a:t>
            </a:r>
          </a:p>
          <a:p>
            <a:pPr lvl="1">
              <a:defRPr sz="1100">
                <a:solidFill>
                  <a:srgbClr val="A0A0B4"/>
                </a:solidFill>
              </a:defRPr>
            </a:pPr>
            <a:r>
              <a:t>TXT, DOCX, MP3, WAV, MP4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6400800" cy="548640"/>
          </a:xfrm>
          <a:prstGeom prst="rect">
            <a:avLst/>
          </a:prstGeom>
          <a:solidFill>
            <a:srgbClr val="1E1E32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2. File Validation</a:t>
            </a:r>
          </a:p>
          <a:p>
            <a:pPr lvl="1">
              <a:defRPr sz="1100">
                <a:solidFill>
                  <a:srgbClr val="A0A0B4"/>
                </a:solidFill>
              </a:defRPr>
            </a:pPr>
            <a:r>
              <a:t>Check format, size, virus scan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17720"/>
            <a:ext cx="6400800" cy="548640"/>
          </a:xfrm>
          <a:prstGeom prst="rect">
            <a:avLst/>
          </a:prstGeom>
          <a:solidFill>
            <a:srgbClr val="1E1E32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3. Content Extraction</a:t>
            </a:r>
          </a:p>
          <a:p>
            <a:pPr lvl="1">
              <a:defRPr sz="1100">
                <a:solidFill>
                  <a:srgbClr val="A0A0B4"/>
                </a:solidFill>
              </a:defRPr>
            </a:pPr>
            <a:r>
              <a:t>Audio→WhisperX, Text→Direct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12080"/>
            <a:ext cx="6400800" cy="548640"/>
          </a:xfrm>
          <a:prstGeom prst="rect">
            <a:avLst/>
          </a:prstGeom>
          <a:solidFill>
            <a:srgbClr val="1E1E32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4. AI Analysis</a:t>
            </a:r>
          </a:p>
          <a:p>
            <a:pPr lvl="1">
              <a:defRPr sz="1100">
                <a:solidFill>
                  <a:srgbClr val="A0A0B4"/>
                </a:solidFill>
              </a:defRPr>
            </a:pPr>
            <a:r>
              <a:t>Gemini 2.5: tóm tắt, topics, actions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806440"/>
            <a:ext cx="6400800" cy="548640"/>
          </a:xfrm>
          <a:prstGeom prst="rect">
            <a:avLst/>
          </a:prstGeom>
          <a:solidFill>
            <a:srgbClr val="1E1E32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5. Vectorization</a:t>
            </a:r>
          </a:p>
          <a:p>
            <a:pPr lvl="1">
              <a:defRPr sz="1100">
                <a:solidFill>
                  <a:srgbClr val="A0A0B4"/>
                </a:solidFill>
              </a:defRPr>
            </a:pPr>
            <a:r>
              <a:t>Embeddings → ChromaDB + 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🔧 CÔNG NGHỆ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474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Gemini 2.5 Flash</a:t>
            </a:r>
          </a:p>
          <a:p>
            <a:pPr lvl="1">
              <a:defRPr sz="1000">
                <a:solidFill>
                  <a:srgbClr val="A0A0B4"/>
                </a:solidFill>
              </a:defRPr>
            </a:pPr>
            <a:r>
              <a:t>LLM phân tích &amp; trích xuất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069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Prompt Engineering</a:t>
            </a:r>
          </a:p>
          <a:p>
            <a:pPr lvl="1">
              <a:defRPr sz="1000">
                <a:solidFill>
                  <a:srgbClr val="A0A0B4"/>
                </a:solidFill>
              </a:defRPr>
            </a:pPr>
            <a:r>
              <a:t>Few-shot, Chain-of-Thought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python-docx</a:t>
            </a:r>
          </a:p>
          <a:p>
            <a:pPr lvl="1">
              <a:defRPr sz="1000">
                <a:solidFill>
                  <a:srgbClr val="A0A0B4"/>
                </a:solidFill>
              </a:defRPr>
            </a:pPr>
            <a:r>
              <a:t>Đọc/ghi Word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257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Input Sanitization</a:t>
            </a:r>
          </a:p>
          <a:p>
            <a:pPr lvl="1">
              <a:defRPr sz="1000">
                <a:solidFill>
                  <a:srgbClr val="A0A0B4"/>
                </a:solidFill>
              </a:defRPr>
            </a:pPr>
            <a:r>
              <a:t>Validate, clean input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7132320"/>
            <a:ext cx="13716000" cy="731520"/>
          </a:xfrm>
          <a:prstGeom prst="rect">
            <a:avLst/>
          </a:prstGeom>
          <a:solidFill>
            <a:srgbClr val="28283C"/>
          </a:solidFill>
          <a:ln w="254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722376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DC64"/>
                </a:solidFill>
              </a:defRPr>
            </a:pPr>
            <a:r>
              <a:t>💡 Structured Output với JSON schema đảm bảo format nhất quán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💬 Chat với AI (RAG)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FF"/>
                </a:solidFill>
              </a:defRPr>
            </a:pPr>
            <a:r>
              <a:t>🎯 Hỏi đáp thông minh với Retrieval-Augmented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4114800" cy="731520"/>
          </a:xfrm>
          <a:prstGeom prst="rect">
            <a:avLst/>
          </a:prstGeom>
          <a:solidFill>
            <a:srgbClr val="28283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384</a:t>
            </a:r>
          </a:p>
          <a:p>
            <a:pPr algn="ctr">
              <a:defRPr sz="1400">
                <a:solidFill>
                  <a:srgbClr val="B4B4C8"/>
                </a:solidFill>
              </a:defRPr>
            </a:pPr>
            <a:r>
              <a:t>Embed Dims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4114800" cy="731520"/>
          </a:xfrm>
          <a:prstGeom prst="rect">
            <a:avLst/>
          </a:prstGeom>
          <a:solidFill>
            <a:srgbClr val="28283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5</a:t>
            </a:r>
          </a:p>
          <a:p>
            <a:pPr algn="ctr">
              <a:defRPr sz="1400">
                <a:solidFill>
                  <a:srgbClr val="B4B4C8"/>
                </a:solidFill>
              </a:defRPr>
            </a:pPr>
            <a:r>
              <a:t>Top-K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1828800"/>
            <a:ext cx="4114800" cy="731520"/>
          </a:xfrm>
          <a:prstGeom prst="rect">
            <a:avLst/>
          </a:prstGeom>
          <a:solidFill>
            <a:srgbClr val="28283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10</a:t>
            </a:r>
          </a:p>
          <a:p>
            <a:pPr algn="ctr">
              <a:defRPr sz="1400">
                <a:solidFill>
                  <a:srgbClr val="B4B4C8"/>
                </a:solidFill>
              </a:defRPr>
            </a:pPr>
            <a:r>
              <a:t>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📋 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29000"/>
            <a:ext cx="6400800" cy="548640"/>
          </a:xfrm>
          <a:prstGeom prst="rect">
            <a:avLst/>
          </a:prstGeom>
          <a:solidFill>
            <a:srgbClr val="1E1E32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1. User Query</a:t>
            </a:r>
          </a:p>
          <a:p>
            <a:pPr lvl="1">
              <a:defRPr sz="1100">
                <a:solidFill>
                  <a:srgbClr val="A0A0B4"/>
                </a:solidFill>
              </a:defRPr>
            </a:pPr>
            <a:r>
              <a:t>Người dùng đặt câu hỏi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6400800" cy="548640"/>
          </a:xfrm>
          <a:prstGeom prst="rect">
            <a:avLst/>
          </a:prstGeom>
          <a:solidFill>
            <a:srgbClr val="1E1E32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2. Query Embedding</a:t>
            </a:r>
          </a:p>
          <a:p>
            <a:pPr lvl="1">
              <a:defRPr sz="1100">
                <a:solidFill>
                  <a:srgbClr val="A0A0B4"/>
                </a:solidFill>
              </a:defRPr>
            </a:pPr>
            <a:r>
              <a:t>Câu hỏi → vector 384D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17720"/>
            <a:ext cx="6400800" cy="548640"/>
          </a:xfrm>
          <a:prstGeom prst="rect">
            <a:avLst/>
          </a:prstGeom>
          <a:solidFill>
            <a:srgbClr val="1E1E32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3. Similarity Search</a:t>
            </a:r>
          </a:p>
          <a:p>
            <a:pPr lvl="1">
              <a:defRPr sz="1100">
                <a:solidFill>
                  <a:srgbClr val="A0A0B4"/>
                </a:solidFill>
              </a:defRPr>
            </a:pPr>
            <a:r>
              <a:t>Tìm top-k chunks (cosine)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12080"/>
            <a:ext cx="6400800" cy="548640"/>
          </a:xfrm>
          <a:prstGeom prst="rect">
            <a:avLst/>
          </a:prstGeom>
          <a:solidFill>
            <a:srgbClr val="1E1E32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4. Context Assembly</a:t>
            </a:r>
          </a:p>
          <a:p>
            <a:pPr lvl="1">
              <a:defRPr sz="1100">
                <a:solidFill>
                  <a:srgbClr val="A0A0B4"/>
                </a:solidFill>
              </a:defRPr>
            </a:pPr>
            <a:r>
              <a:t>Retrieved + history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806440"/>
            <a:ext cx="6400800" cy="548640"/>
          </a:xfrm>
          <a:prstGeom prst="rect">
            <a:avLst/>
          </a:prstGeom>
          <a:solidFill>
            <a:srgbClr val="1E1E32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5. LLM Generation</a:t>
            </a:r>
          </a:p>
          <a:p>
            <a:pPr lvl="1">
              <a:defRPr sz="1100">
                <a:solidFill>
                  <a:srgbClr val="A0A0B4"/>
                </a:solidFill>
              </a:defRPr>
            </a:pPr>
            <a:r>
              <a:t>Gemini tạo câu trả lời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00800"/>
            <a:ext cx="6400800" cy="548640"/>
          </a:xfrm>
          <a:prstGeom prst="rect">
            <a:avLst/>
          </a:prstGeom>
          <a:solidFill>
            <a:srgbClr val="1E1E32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6. Memory Update</a:t>
            </a:r>
          </a:p>
          <a:p>
            <a:pPr lvl="1">
              <a:defRPr sz="1100">
                <a:solidFill>
                  <a:srgbClr val="A0A0B4"/>
                </a:solidFill>
              </a:defRPr>
            </a:pPr>
            <a:r>
              <a:t>Lưu Q&amp;A vào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🔧 CÔNG NGHỆ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474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ChromaDB</a:t>
            </a:r>
          </a:p>
          <a:p>
            <a:pPr lvl="1">
              <a:defRPr sz="1000">
                <a:solidFill>
                  <a:srgbClr val="A0A0B4"/>
                </a:solidFill>
              </a:defRPr>
            </a:pPr>
            <a:r>
              <a:t>Vector 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069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LangChain</a:t>
            </a:r>
          </a:p>
          <a:p>
            <a:pPr lvl="1">
              <a:defRPr sz="1000">
                <a:solidFill>
                  <a:srgbClr val="A0A0B4"/>
                </a:solidFill>
              </a:defRPr>
            </a:pPr>
            <a:r>
              <a:t>RAG framework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sentence-transformers</a:t>
            </a:r>
          </a:p>
          <a:p>
            <a:pPr lvl="1">
              <a:defRPr sz="1000">
                <a:solidFill>
                  <a:srgbClr val="A0A0B4"/>
                </a:solidFill>
              </a:defRPr>
            </a:pPr>
            <a:r>
              <a:t>Embeddings 384D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257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Conversation Memory</a:t>
            </a:r>
          </a:p>
          <a:p>
            <a:pPr lvl="1">
              <a:defRPr sz="1000">
                <a:solidFill>
                  <a:srgbClr val="A0A0B4"/>
                </a:solidFill>
              </a:defRPr>
            </a:pPr>
            <a:r>
              <a:t>Follow-up questions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7132320"/>
            <a:ext cx="13716000" cy="731520"/>
          </a:xfrm>
          <a:prstGeom prst="rect">
            <a:avLst/>
          </a:prstGeom>
          <a:solidFill>
            <a:srgbClr val="28283C"/>
          </a:solidFill>
          <a:ln w="254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722376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DC64"/>
                </a:solidFill>
              </a:defRPr>
            </a:pPr>
            <a:r>
              <a:t>💡 RAG + Memory = chatbot hiểu context và câu hỏi tiếp theo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🔍 Tìm Kiếm Ngữ Nghĩa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FF"/>
                </a:solidFill>
              </a:defRPr>
            </a:pPr>
            <a:r>
              <a:t>🎯 Tìm kiếm theo ý nghĩa, không chỉ từ khóa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4114800" cy="731520"/>
          </a:xfrm>
          <a:prstGeom prst="rect">
            <a:avLst/>
          </a:prstGeom>
          <a:solidFill>
            <a:srgbClr val="28283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384</a:t>
            </a:r>
          </a:p>
          <a:p>
            <a:pPr algn="ctr">
              <a:defRPr sz="1400">
                <a:solidFill>
                  <a:srgbClr val="B4B4C8"/>
                </a:solidFill>
              </a:defRPr>
            </a:pPr>
            <a:r>
              <a:t>Dims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4114800" cy="731520"/>
          </a:xfrm>
          <a:prstGeom prst="rect">
            <a:avLst/>
          </a:prstGeom>
          <a:solidFill>
            <a:srgbClr val="28283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95%</a:t>
            </a:r>
          </a:p>
          <a:p>
            <a:pPr algn="ctr">
              <a:defRPr sz="1400">
                <a:solidFill>
                  <a:srgbClr val="B4B4C8"/>
                </a:solidFill>
              </a:defRPr>
            </a:pPr>
            <a:r>
              <a:t>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1828800"/>
            <a:ext cx="4114800" cy="731520"/>
          </a:xfrm>
          <a:prstGeom prst="rect">
            <a:avLst/>
          </a:prstGeom>
          <a:solidFill>
            <a:srgbClr val="28283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182880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100ms</a:t>
            </a:r>
          </a:p>
          <a:p>
            <a:pPr algn="ctr">
              <a:defRPr sz="1400">
                <a:solidFill>
                  <a:srgbClr val="B4B4C8"/>
                </a:solidFill>
              </a:defRPr>
            </a:pPr>
            <a:r>
              <a:t>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📋 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29000"/>
            <a:ext cx="6400800" cy="548640"/>
          </a:xfrm>
          <a:prstGeom prst="rect">
            <a:avLst/>
          </a:prstGeom>
          <a:solidFill>
            <a:srgbClr val="1E1E32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1. Search Query</a:t>
            </a:r>
          </a:p>
          <a:p>
            <a:pPr lvl="1">
              <a:defRPr sz="1100">
                <a:solidFill>
                  <a:srgbClr val="A0A0B4"/>
                </a:solidFill>
              </a:defRPr>
            </a:pPr>
            <a:r>
              <a:t>User nhập query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6400800" cy="548640"/>
          </a:xfrm>
          <a:prstGeom prst="rect">
            <a:avLst/>
          </a:prstGeom>
          <a:solidFill>
            <a:srgbClr val="1E1E32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2. Query Embedding</a:t>
            </a:r>
          </a:p>
          <a:p>
            <a:pPr lvl="1">
              <a:defRPr sz="1100">
                <a:solidFill>
                  <a:srgbClr val="A0A0B4"/>
                </a:solidFill>
              </a:defRPr>
            </a:pPr>
            <a:r>
              <a:t>Query → vector 384D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17720"/>
            <a:ext cx="6400800" cy="548640"/>
          </a:xfrm>
          <a:prstGeom prst="rect">
            <a:avLst/>
          </a:prstGeom>
          <a:solidFill>
            <a:srgbClr val="1E1E32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3. Vector Search</a:t>
            </a:r>
          </a:p>
          <a:p>
            <a:pPr lvl="1">
              <a:defRPr sz="1100">
                <a:solidFill>
                  <a:srgbClr val="A0A0B4"/>
                </a:solidFill>
              </a:defRPr>
            </a:pPr>
            <a:r>
              <a:t>ChromaDB + metadata filters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12080"/>
            <a:ext cx="6400800" cy="548640"/>
          </a:xfrm>
          <a:prstGeom prst="rect">
            <a:avLst/>
          </a:prstGeom>
          <a:solidFill>
            <a:srgbClr val="1E1E32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4. Ranking</a:t>
            </a:r>
          </a:p>
          <a:p>
            <a:pPr lvl="1">
              <a:defRPr sz="1100">
                <a:solidFill>
                  <a:srgbClr val="A0A0B4"/>
                </a:solidFill>
              </a:defRPr>
            </a:pPr>
            <a:r>
              <a:t>Sắp xếp theo similarity (0-1)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806440"/>
            <a:ext cx="6400800" cy="548640"/>
          </a:xfrm>
          <a:prstGeom prst="rect">
            <a:avLst/>
          </a:prstGeom>
          <a:solidFill>
            <a:srgbClr val="1E1E32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5. Display Results</a:t>
            </a:r>
          </a:p>
          <a:p>
            <a:pPr lvl="1">
              <a:defRPr sz="1100">
                <a:solidFill>
                  <a:srgbClr val="A0A0B4"/>
                </a:solidFill>
              </a:defRPr>
            </a:pPr>
            <a:r>
              <a:t>Hiển thị với highlight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🔧 CÔNG NGHỆ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474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ChromaDB Advanced</a:t>
            </a:r>
          </a:p>
          <a:p>
            <a:pPr lvl="1">
              <a:defRPr sz="1000">
                <a:solidFill>
                  <a:srgbClr val="A0A0B4"/>
                </a:solidFill>
              </a:defRPr>
            </a:pPr>
            <a:r>
              <a:t>Metadata filtering,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069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Cosine Similarity</a:t>
            </a:r>
          </a:p>
          <a:p>
            <a:pPr lvl="1">
              <a:defRPr sz="1000">
                <a:solidFill>
                  <a:srgbClr val="A0A0B4"/>
                </a:solidFill>
              </a:defRPr>
            </a:pPr>
            <a:r>
              <a:t>Đo tương đồng (0-1)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Metadata Filters</a:t>
            </a:r>
          </a:p>
          <a:p>
            <a:pPr lvl="1">
              <a:defRPr sz="1000">
                <a:solidFill>
                  <a:srgbClr val="A0A0B4"/>
                </a:solidFill>
              </a:defRPr>
            </a:pPr>
            <a:r>
              <a:t>Ngày, ngôn ngữ, loại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2578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• Analytics</a:t>
            </a:r>
          </a:p>
          <a:p>
            <a:pPr lvl="1">
              <a:defRPr sz="1000">
                <a:solidFill>
                  <a:srgbClr val="A0A0B4"/>
                </a:solidFill>
              </a:defRPr>
            </a:pPr>
            <a:r>
              <a:t>Thống kê database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7132320"/>
            <a:ext cx="13716000" cy="731520"/>
          </a:xfrm>
          <a:prstGeom prst="rect">
            <a:avLst/>
          </a:prstGeom>
          <a:solidFill>
            <a:srgbClr val="28283C"/>
          </a:solidFill>
          <a:ln w="254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7223760"/>
            <a:ext cx="1325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DC64"/>
                </a:solidFill>
              </a:defRPr>
            </a:pPr>
            <a:r>
              <a:t>💡 Vector search + metadata filtering = tìm kiếm chính xác &amp; nhanh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