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667EEA"/>
                </a:solidFill>
              </a:defRPr>
            </a:pPr>
            <a:r>
              <a:t>Meeting Transcript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B7280"/>
                </a:solidFill>
              </a:defRPr>
            </a:pPr>
            <a:r>
              <a:t>Hệ thống phân tích cuộc họp thông minh với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🎙️ Ghi Âm &amp; Chuyển Văn Bản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🎯 Mục tiêu: Ghi âm cuộc họp trực tiếp và tự động chuyển thành văn bản với speaker diarization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92%</a:t>
            </a:r>
          </a:p>
          <a:p>
            <a:pPr algn="ctr">
              <a:defRPr sz="1400">
                <a:solidFill>
                  <a:srgbClr val="6B7280"/>
                </a:solidFill>
              </a:defRPr>
            </a:pPr>
            <a:r>
              <a:t>Độ chính xác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50+</a:t>
            </a:r>
          </a:p>
          <a:p>
            <a:pPr algn="ctr">
              <a:defRPr sz="1400">
                <a:solidFill>
                  <a:srgbClr val="6B7280"/>
                </a:solidFill>
              </a:defRPr>
            </a:pPr>
            <a:r>
              <a:t>Ngôn ngữ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3x</a:t>
            </a:r>
          </a:p>
          <a:p>
            <a:pPr algn="ctr">
              <a:defRPr sz="1400">
                <a:solidFill>
                  <a:srgbClr val="6B7280"/>
                </a:solidFill>
              </a:defRPr>
            </a:pPr>
            <a:r>
              <a:t>Realtime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📋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1. Khởi động ghi âm</a:t>
            </a:r>
          </a:p>
          <a:p>
            <a:pPr lvl="1">
              <a:defRPr sz="1100">
                <a:solidFill>
                  <a:srgbClr val="6B7280"/>
                </a:solidFill>
              </a:defRPr>
            </a:pPr>
            <a:r>
              <a:t>WebRTC API capture audio từ browser/microphone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690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2. Streaming &amp; Buffer</a:t>
            </a:r>
          </a:p>
          <a:p>
            <a:pPr lvl="1">
              <a:defRPr sz="1100">
                <a:solidFill>
                  <a:srgbClr val="6B7280"/>
                </a:solidFill>
              </a:defRPr>
            </a:pPr>
            <a:r>
              <a:t>Audio chunks được buffer và gửi real-time qua WebSocket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3. Transcription (WhisperX)</a:t>
            </a:r>
          </a:p>
          <a:p>
            <a:pPr lvl="1">
              <a:defRPr sz="1100">
                <a:solidFill>
                  <a:srgbClr val="6B7280"/>
                </a:solidFill>
              </a:defRPr>
            </a:pPr>
            <a:r>
              <a:t>WhisperX Medium model chuyển audio → text với timestamp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578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4. Speaker Diarization</a:t>
            </a:r>
          </a:p>
          <a:p>
            <a:pPr lvl="1">
              <a:defRPr sz="1100">
                <a:solidFill>
                  <a:srgbClr val="6B7280"/>
                </a:solidFill>
              </a:defRPr>
            </a:pPr>
            <a:r>
              <a:t>PyAnnote 3.1 phân biệt người nói (Speaker 1, 2, 3...)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5216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5. Lưu &amp; Hiển thị</a:t>
            </a:r>
          </a:p>
          <a:p>
            <a:pPr lvl="1">
              <a:defRPr sz="1100">
                <a:solidFill>
                  <a:srgbClr val="6B7280"/>
                </a:solidFill>
              </a:defRPr>
            </a:pPr>
            <a:r>
              <a:t>Lưu transcript vào DB, hiển thị real-time trên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🔧 Công Nghệ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474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WhisperX (OpenAI Whisper)</a:t>
            </a:r>
          </a:p>
          <a:p>
            <a:pPr lvl="1">
              <a:defRPr sz="1000">
                <a:solidFill>
                  <a:srgbClr val="6B7280"/>
                </a:solidFill>
              </a:defRPr>
            </a:pPr>
            <a:r>
              <a:t>Speech-to-Text với độ chính xác 92%, hỗ trợ 50+ ngôn ngữ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0690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PyAnnote Audio 3.1</a:t>
            </a:r>
          </a:p>
          <a:p>
            <a:pPr lvl="1">
              <a:defRPr sz="1000">
                <a:solidFill>
                  <a:srgbClr val="6B7280"/>
                </a:solidFill>
              </a:defRPr>
            </a:pPr>
            <a:r>
              <a:t>Speaker Diarization - phân biệt người nói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6634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WebRTC + WebSocket</a:t>
            </a:r>
          </a:p>
          <a:p>
            <a:pPr lvl="1">
              <a:defRPr sz="1000">
                <a:solidFill>
                  <a:srgbClr val="6B7280"/>
                </a:solidFill>
              </a:defRPr>
            </a:pPr>
            <a:r>
              <a:t>Real-time audio streaming từ browser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52578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FFmpeg</a:t>
            </a:r>
          </a:p>
          <a:p>
            <a:pPr lvl="1">
              <a:defRPr sz="1000">
                <a:solidFill>
                  <a:srgbClr val="6B7280"/>
                </a:solidFill>
              </a:defRPr>
            </a:pPr>
            <a:r>
              <a:t>Audio processing và format conversion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7132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67EEA"/>
                </a:solidFill>
              </a:defRPr>
            </a:pPr>
            <a:r>
              <a:t>💡 Sử dụng DiarizationPipeline wrapper để đảm bảo output format tương thích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📤 Upload &amp; Phân Tích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🎯 Mục tiêu: Upload file và nhận phân tích AI toàn diện về cuộc họp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100MB</a:t>
            </a:r>
          </a:p>
          <a:p>
            <a:pPr algn="ctr">
              <a:defRPr sz="1400">
                <a:solidFill>
                  <a:srgbClr val="6B7280"/>
                </a:solidFill>
              </a:defRPr>
            </a:pPr>
            <a:r>
              <a:t>Max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5</a:t>
            </a:r>
          </a:p>
          <a:p>
            <a:pPr algn="ctr">
              <a:defRPr sz="1400">
                <a:solidFill>
                  <a:srgbClr val="6B7280"/>
                </a:solidFill>
              </a:defRPr>
            </a:pPr>
            <a:r>
              <a:t>File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30s</a:t>
            </a:r>
          </a:p>
          <a:p>
            <a:pPr algn="ctr">
              <a:defRPr sz="1400">
                <a:solidFill>
                  <a:srgbClr val="6B7280"/>
                </a:solidFill>
              </a:defRPr>
            </a:pPr>
            <a:r>
              <a:t>Avg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📋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1. Upload File</a:t>
            </a:r>
          </a:p>
          <a:p>
            <a:pPr lvl="1">
              <a:defRPr sz="1100">
                <a:solidFill>
                  <a:srgbClr val="6B7280"/>
                </a:solidFill>
              </a:defRPr>
            </a:pPr>
            <a:r>
              <a:t>Hỗ trợ TXT, DOCX, MP3, WAV, MP4 (max 100MB)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690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2. File Validation</a:t>
            </a:r>
          </a:p>
          <a:p>
            <a:pPr lvl="1">
              <a:defRPr sz="1100">
                <a:solidFill>
                  <a:srgbClr val="6B7280"/>
                </a:solidFill>
              </a:defRPr>
            </a:pPr>
            <a:r>
              <a:t>Kiểm tra định dạng, kích thước, virus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3. Content Extraction</a:t>
            </a:r>
          </a:p>
          <a:p>
            <a:pPr lvl="1">
              <a:defRPr sz="1100">
                <a:solidFill>
                  <a:srgbClr val="6B7280"/>
                </a:solidFill>
              </a:defRPr>
            </a:pPr>
            <a:r>
              <a:t>Audio → WhisperX, Text → Direct, Video → FFmpeg extract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578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4. AI Analysis (Gemini 2.5)</a:t>
            </a:r>
          </a:p>
          <a:p>
            <a:pPr lvl="1">
              <a:defRPr sz="1100">
                <a:solidFill>
                  <a:srgbClr val="6B7280"/>
                </a:solidFill>
              </a:defRPr>
            </a:pPr>
            <a:r>
              <a:t>Tóm tắt, trích xuất chủ đề, action items, quyết định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5216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5. Vectorization &amp; Storage</a:t>
            </a:r>
          </a:p>
          <a:p>
            <a:pPr lvl="1">
              <a:defRPr sz="1100">
                <a:solidFill>
                  <a:srgbClr val="6B7280"/>
                </a:solidFill>
              </a:defRPr>
            </a:pPr>
            <a:r>
              <a:t>Tạo embeddings và lưu vào ChromaDB + 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🔧 Công Nghệ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474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Google Gemini 2.5 Flash</a:t>
            </a:r>
          </a:p>
          <a:p>
            <a:pPr lvl="1">
              <a:defRPr sz="1000">
                <a:solidFill>
                  <a:srgbClr val="6B7280"/>
                </a:solidFill>
              </a:defRPr>
            </a:pPr>
            <a:r>
              <a:t>LLM chính cho phân tích, tóm tắt, trích xuất thông tin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0690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Prompt Engineering</a:t>
            </a:r>
          </a:p>
          <a:p>
            <a:pPr lvl="1">
              <a:defRPr sz="1000">
                <a:solidFill>
                  <a:srgbClr val="6B7280"/>
                </a:solidFill>
              </a:defRPr>
            </a:pPr>
            <a:r>
              <a:t>6 kỹ thuật: Few-shot, Chain-of-Thought, Role-based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6634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python-docx</a:t>
            </a:r>
          </a:p>
          <a:p>
            <a:pPr lvl="1">
              <a:defRPr sz="1000">
                <a:solidFill>
                  <a:srgbClr val="6B7280"/>
                </a:solidFill>
              </a:defRPr>
            </a:pPr>
            <a:r>
              <a:t>Đọc/ghi file Word với formatting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52578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Input Sanitization</a:t>
            </a:r>
          </a:p>
          <a:p>
            <a:pPr lvl="1">
              <a:defRPr sz="1000">
                <a:solidFill>
                  <a:srgbClr val="6B7280"/>
                </a:solidFill>
              </a:defRPr>
            </a:pPr>
            <a:r>
              <a:t>Validate, clean, truncate input để tránh injection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7132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67EEA"/>
                </a:solidFill>
              </a:defRPr>
            </a:pPr>
            <a:r>
              <a:t>💡 Sử dụng Structured Output với JSON schema để đảm bảo format nhất quán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💬 Chat với AI (RAG)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🎯 Mục tiêu: Hỏi đáp thông minh về cuộc họp với Retrieval-Augmented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384</a:t>
            </a:r>
          </a:p>
          <a:p>
            <a:pPr algn="ctr">
              <a:defRPr sz="1400">
                <a:solidFill>
                  <a:srgbClr val="6B7280"/>
                </a:solidFill>
              </a:defRPr>
            </a:pPr>
            <a:r>
              <a:t>Embedding Dims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5</a:t>
            </a:r>
          </a:p>
          <a:p>
            <a:pPr algn="ctr">
              <a:defRPr sz="1400">
                <a:solidFill>
                  <a:srgbClr val="6B7280"/>
                </a:solidFill>
              </a:defRPr>
            </a:pPr>
            <a:r>
              <a:t>Top-K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10</a:t>
            </a:r>
          </a:p>
          <a:p>
            <a:pPr algn="ctr">
              <a:defRPr sz="1400">
                <a:solidFill>
                  <a:srgbClr val="6B7280"/>
                </a:solidFill>
              </a:defRPr>
            </a:pPr>
            <a:r>
              <a:t>Chat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📋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1. User Query</a:t>
            </a:r>
          </a:p>
          <a:p>
            <a:pPr lvl="1">
              <a:defRPr sz="1100">
                <a:solidFill>
                  <a:srgbClr val="6B7280"/>
                </a:solidFill>
              </a:defRPr>
            </a:pPr>
            <a:r>
              <a:t>Người dùng đặt câu hỏi về cuộc họp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690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2. Query Embedding</a:t>
            </a:r>
          </a:p>
          <a:p>
            <a:pPr lvl="1">
              <a:defRPr sz="1100">
                <a:solidFill>
                  <a:srgbClr val="6B7280"/>
                </a:solidFill>
              </a:defRPr>
            </a:pPr>
            <a:r>
              <a:t>Chuyển câu hỏi thành vector (sentence-transformers)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3. Similarity Search</a:t>
            </a:r>
          </a:p>
          <a:p>
            <a:pPr lvl="1">
              <a:defRPr sz="1100">
                <a:solidFill>
                  <a:srgbClr val="6B7280"/>
                </a:solidFill>
              </a:defRPr>
            </a:pPr>
            <a:r>
              <a:t>Tìm top-k chunks liên quan nhất (cosine similarity)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578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4. Context Assembly</a:t>
            </a:r>
          </a:p>
          <a:p>
            <a:pPr lvl="1">
              <a:defRPr sz="1100">
                <a:solidFill>
                  <a:srgbClr val="6B7280"/>
                </a:solidFill>
              </a:defRPr>
            </a:pPr>
            <a:r>
              <a:t>Kết hợp retrieved chunks + conversation 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5216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5. LLM Generation</a:t>
            </a:r>
          </a:p>
          <a:p>
            <a:pPr lvl="1">
              <a:defRPr sz="1100">
                <a:solidFill>
                  <a:srgbClr val="6B7280"/>
                </a:solidFill>
              </a:defRPr>
            </a:pPr>
            <a:r>
              <a:t>Gemini tạo câu trả lời dựa trên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6. Memory Update</a:t>
            </a:r>
          </a:p>
          <a:p>
            <a:pPr lvl="1">
              <a:defRPr sz="1100">
                <a:solidFill>
                  <a:srgbClr val="6B7280"/>
                </a:solidFill>
              </a:defRPr>
            </a:pPr>
            <a:r>
              <a:t>Lưu Q&amp;A vào conversation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926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🔧 Công Nghệ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474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ChromaDB</a:t>
            </a:r>
          </a:p>
          <a:p>
            <a:pPr lvl="1">
              <a:defRPr sz="1000">
                <a:solidFill>
                  <a:srgbClr val="6B7280"/>
                </a:solidFill>
              </a:defRPr>
            </a:pPr>
            <a:r>
              <a:t>Vector Database - lưu trữ và tìm kiếm embeddings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0690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LangChain</a:t>
            </a:r>
          </a:p>
          <a:p>
            <a:pPr lvl="1">
              <a:defRPr sz="1000">
                <a:solidFill>
                  <a:srgbClr val="6B7280"/>
                </a:solidFill>
              </a:defRPr>
            </a:pPr>
            <a:r>
              <a:t>Framework RAG: RetrievalQA, ConversationBufferMemory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6634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sentence-transformers</a:t>
            </a:r>
          </a:p>
          <a:p>
            <a:pPr lvl="1">
              <a:defRPr sz="1000">
                <a:solidFill>
                  <a:srgbClr val="6B7280"/>
                </a:solidFill>
              </a:defRPr>
            </a:pPr>
            <a:r>
              <a:t>Tạo embeddings (all-MiniLM-L6-v2, 384 dimensions)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52578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Conversation Memory</a:t>
            </a:r>
          </a:p>
          <a:p>
            <a:pPr lvl="1">
              <a:defRPr sz="1000">
                <a:solidFill>
                  <a:srgbClr val="6B7280"/>
                </a:solidFill>
              </a:defRPr>
            </a:pPr>
            <a:r>
              <a:t>Lưu lịch sử chat để xử lý follow-up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7132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67EEA"/>
                </a:solidFill>
              </a:defRPr>
            </a:pPr>
            <a:r>
              <a:t>💡 Kết hợp RAG + Conversation Memory để chatbot hiểu context và câu hỏi tiếp theo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🔍 Tìm Kiếm Ngữ Nghĩa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🎯 Mục tiêu: Tìm kiếm cuộc họp theo ý nghĩa, không chỉ từ khóa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384</a:t>
            </a:r>
          </a:p>
          <a:p>
            <a:pPr algn="ctr">
              <a:defRPr sz="1400">
                <a:solidFill>
                  <a:srgbClr val="6B7280"/>
                </a:solidFill>
              </a:defRPr>
            </a:pPr>
            <a:r>
              <a:t>Vector Dims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95%</a:t>
            </a:r>
          </a:p>
          <a:p>
            <a:pPr algn="ctr">
              <a:defRPr sz="1400">
                <a:solidFill>
                  <a:srgbClr val="6B7280"/>
                </a:solidFill>
              </a:defRPr>
            </a:pPr>
            <a:r>
              <a:t>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100ms</a:t>
            </a:r>
          </a:p>
          <a:p>
            <a:pPr algn="ctr">
              <a:defRPr sz="1400">
                <a:solidFill>
                  <a:srgbClr val="6B7280"/>
                </a:solidFill>
              </a:defRPr>
            </a:pPr>
            <a:r>
              <a:t>Search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📋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1. Search Query</a:t>
            </a:r>
          </a:p>
          <a:p>
            <a:pPr lvl="1">
              <a:defRPr sz="1100">
                <a:solidFill>
                  <a:srgbClr val="6B7280"/>
                </a:solidFill>
              </a:defRPr>
            </a:pPr>
            <a:r>
              <a:t>User nhập query (VD: 'cuộc họp về marketing')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690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2. Query Embedding</a:t>
            </a:r>
          </a:p>
          <a:p>
            <a:pPr lvl="1">
              <a:defRPr sz="1100">
                <a:solidFill>
                  <a:srgbClr val="6B7280"/>
                </a:solidFill>
              </a:defRPr>
            </a:pPr>
            <a:r>
              <a:t>Chuyển query thành vector 384 chiều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3. Vector Search + Filters</a:t>
            </a:r>
          </a:p>
          <a:p>
            <a:pPr lvl="1">
              <a:defRPr sz="1100">
                <a:solidFill>
                  <a:srgbClr val="6B7280"/>
                </a:solidFill>
              </a:defRPr>
            </a:pPr>
            <a:r>
              <a:t>ChromaDB tìm kiếm với metadata filters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578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4. Ranking &amp; Scoring</a:t>
            </a:r>
          </a:p>
          <a:p>
            <a:pPr lvl="1">
              <a:defRPr sz="1100">
                <a:solidFill>
                  <a:srgbClr val="6B7280"/>
                </a:solidFill>
              </a:defRPr>
            </a:pPr>
            <a:r>
              <a:t>Sắp xếp theo similarity score (0-1)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5216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5. Display Results</a:t>
            </a:r>
          </a:p>
          <a:p>
            <a:pPr lvl="1">
              <a:defRPr sz="1100">
                <a:solidFill>
                  <a:srgbClr val="6B7280"/>
                </a:solidFill>
              </a:defRPr>
            </a:pPr>
            <a:r>
              <a:t>Hiển thị kết quả với snippet và highlight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🔧 Công Nghệ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474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ChromaDB Advanced</a:t>
            </a:r>
          </a:p>
          <a:p>
            <a:pPr lvl="1">
              <a:defRPr sz="1000">
                <a:solidFill>
                  <a:srgbClr val="6B7280"/>
                </a:solidFill>
              </a:defRPr>
            </a:pPr>
            <a:r>
              <a:t>Metadata filtering, similarity search, collection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0690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Cosine Similarity</a:t>
            </a:r>
          </a:p>
          <a:p>
            <a:pPr lvl="1">
              <a:defRPr sz="1000">
                <a:solidFill>
                  <a:srgbClr val="6B7280"/>
                </a:solidFill>
              </a:defRPr>
            </a:pPr>
            <a:r>
              <a:t>Đo độ tương đồng giữa vectors (range: 0-1)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6634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Metadata Filters</a:t>
            </a:r>
          </a:p>
          <a:p>
            <a:pPr lvl="1">
              <a:defRPr sz="1000">
                <a:solidFill>
                  <a:srgbClr val="6B7280"/>
                </a:solidFill>
              </a:defRPr>
            </a:pPr>
            <a:r>
              <a:t>Lọc theo ngày, ngôn ngữ, loại cuộc họp, người tham gia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52578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Analytics Dashboard</a:t>
            </a:r>
          </a:p>
          <a:p>
            <a:pPr lvl="1">
              <a:defRPr sz="1000">
                <a:solidFill>
                  <a:srgbClr val="6B7280"/>
                </a:solidFill>
              </a:defRPr>
            </a:pPr>
            <a:r>
              <a:t>Thống kê database: số lượng, phân bố, trends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7132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67EEA"/>
                </a:solidFill>
              </a:defRPr>
            </a:pPr>
            <a:r>
              <a:t>💡 Kết hợp vector search với metadata filtering để tìm kiếm chính xác và nhanh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📊 Lịch Sử &amp; Xuất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🎯 Mục tiêu: Quản lý lịch sử cuộc họp và xuất kết quả ra nhiều định dạng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10</a:t>
            </a:r>
          </a:p>
          <a:p>
            <a:pPr algn="ctr">
              <a:defRPr sz="1400">
                <a:solidFill>
                  <a:srgbClr val="6B7280"/>
                </a:solidFill>
              </a:defRPr>
            </a:pPr>
            <a:r>
              <a:t>Items/Page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2</a:t>
            </a:r>
          </a:p>
          <a:p>
            <a:pPr algn="ctr">
              <a:defRPr sz="1400">
                <a:solidFill>
                  <a:srgbClr val="6B7280"/>
                </a:solidFill>
              </a:defRPr>
            </a:pPr>
            <a:r>
              <a:t>Export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500+</a:t>
            </a:r>
          </a:p>
          <a:p>
            <a:pPr algn="ctr">
              <a:defRPr sz="1400">
                <a:solidFill>
                  <a:srgbClr val="6B7280"/>
                </a:solidFill>
              </a:defRPr>
            </a:pPr>
            <a:r>
              <a:t>Meetings Stored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📋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1. Load History</a:t>
            </a:r>
          </a:p>
          <a:p>
            <a:pPr lvl="1">
              <a:defRPr sz="1100">
                <a:solidFill>
                  <a:srgbClr val="6B7280"/>
                </a:solidFill>
              </a:defRPr>
            </a:pPr>
            <a:r>
              <a:t>Fetch từ PostgreSQL với pagination (10 items/page)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690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2. Display Cards</a:t>
            </a:r>
          </a:p>
          <a:p>
            <a:pPr lvl="1">
              <a:defRPr sz="1100">
                <a:solidFill>
                  <a:srgbClr val="6B7280"/>
                </a:solidFill>
              </a:defRPr>
            </a:pPr>
            <a:r>
              <a:t>Hiển thị meeting cards với preview, date, participants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3. Select Meeting</a:t>
            </a:r>
          </a:p>
          <a:p>
            <a:pPr lvl="1">
              <a:defRPr sz="1100">
                <a:solidFill>
                  <a:srgbClr val="6B7280"/>
                </a:solidFill>
              </a:defRPr>
            </a:pPr>
            <a:r>
              <a:t>Click vào card để xem chi tiết đầy đủ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578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4. Export Options</a:t>
            </a:r>
          </a:p>
          <a:p>
            <a:pPr lvl="1">
              <a:defRPr sz="1100">
                <a:solidFill>
                  <a:srgbClr val="6B7280"/>
                </a:solidFill>
              </a:defRPr>
            </a:pPr>
            <a:r>
              <a:t>Chọn format: TXT (plain), DOCX (formatted)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5216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5. Generate &amp; Download</a:t>
            </a:r>
          </a:p>
          <a:p>
            <a:pPr lvl="1">
              <a:defRPr sz="1100">
                <a:solidFill>
                  <a:srgbClr val="6B7280"/>
                </a:solidFill>
              </a:defRPr>
            </a:pPr>
            <a:r>
              <a:t>Tạo file với formatting và trigger download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🔧 Công Nghệ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474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PostgreSQL</a:t>
            </a:r>
          </a:p>
          <a:p>
            <a:pPr lvl="1">
              <a:defRPr sz="1000">
                <a:solidFill>
                  <a:srgbClr val="6B7280"/>
                </a:solidFill>
              </a:defRPr>
            </a:pPr>
            <a:r>
              <a:t>Lưu trữ metadata, transcript, analysis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0690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python-docx</a:t>
            </a:r>
          </a:p>
          <a:p>
            <a:pPr lvl="1">
              <a:defRPr sz="1000">
                <a:solidFill>
                  <a:srgbClr val="6B7280"/>
                </a:solidFill>
              </a:defRPr>
            </a:pPr>
            <a:r>
              <a:t>Tạo file Word với headers, bullets, tables, formatting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6634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Pagination</a:t>
            </a:r>
          </a:p>
          <a:p>
            <a:pPr lvl="1">
              <a:defRPr sz="1000">
                <a:solidFill>
                  <a:srgbClr val="6B7280"/>
                </a:solidFill>
              </a:defRPr>
            </a:pPr>
            <a:r>
              <a:t>Load dữ liệu theo batch để tối ưu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52578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Soft Delete</a:t>
            </a:r>
          </a:p>
          <a:p>
            <a:pPr lvl="1">
              <a:defRPr sz="1000">
                <a:solidFill>
                  <a:srgbClr val="6B7280"/>
                </a:solidFill>
              </a:defRPr>
            </a:pPr>
            <a:r>
              <a:t>Đánh dấu xóa thay vì xóa vĩnh viễn (data recovery)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7132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67EEA"/>
                </a:solidFill>
              </a:defRPr>
            </a:pPr>
            <a:r>
              <a:t>💡 Dual storage (PostgreSQL + ChromaDB) để tối ưu cả structured data và vector 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